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5943600" cy="365760"/>
          </a:xfrm>
          <a:prstGeom prst="roundRect">
            <a:avLst/>
          </a:prstGeom>
          <a:solidFill>
            <a:srgbClr val="0F1E41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DRUNIX HACKATHON × CITI  |  INDIA BLOCKCHAIN FORUM  |  CHL-7007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PAYBRIDGE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2FF"/>
                </a:solidFill>
                <a:latin typeface="Segoe UI"/>
              </a:defRPr>
            </a:pPr>
            <a:r>
              <a:t>Blockchain-Powered Financial Inclusion &amp; Real-Time Payment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10728655" cy="86868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Core Mission: Turning verified digital payment activity into trusted, user-controlled financial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993392" cy="109728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810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Segoe UI"/>
              </a:defRPr>
            </a:pPr>
            <a:r>
              <a:t>1. Real-Time Payment</a:t>
            </a:r>
          </a:p>
          <a:p>
            <a:pPr>
              <a:defRPr sz="1100">
                <a:solidFill>
                  <a:srgbClr val="A0B4D7"/>
                </a:solidFill>
                <a:latin typeface="Segoe UI"/>
              </a:defRPr>
            </a:pPr>
            <a:r>
              <a:t>Eligible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4480560"/>
            <a:ext cx="1993392" cy="109728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4572000"/>
            <a:ext cx="1810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Segoe UI"/>
              </a:defRPr>
            </a:pPr>
            <a:r>
              <a:t>2. Verification</a:t>
            </a:r>
          </a:p>
          <a:p>
            <a:pPr>
              <a:defRPr sz="1100">
                <a:solidFill>
                  <a:srgbClr val="A0B4D7"/>
                </a:solidFill>
                <a:latin typeface="Segoe UI"/>
              </a:defRPr>
            </a:pPr>
            <a:r>
              <a:t>Rules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4480560"/>
            <a:ext cx="1993392" cy="109728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4" y="4572000"/>
            <a:ext cx="1810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Segoe UI"/>
              </a:defRPr>
            </a:pPr>
            <a:r>
              <a:t>3. AI Analytics</a:t>
            </a:r>
          </a:p>
          <a:p>
            <a:pPr>
              <a:defRPr sz="1100">
                <a:solidFill>
                  <a:srgbClr val="A0B4D7"/>
                </a:solidFill>
                <a:latin typeface="Segoe UI"/>
              </a:defRPr>
            </a:pPr>
            <a:r>
              <a:t>Financial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4480560"/>
            <a:ext cx="1993392" cy="109728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1776" y="4572000"/>
            <a:ext cx="1810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Segoe UI"/>
              </a:defRPr>
            </a:pPr>
            <a:r>
              <a:t>4. Blockchain Proof</a:t>
            </a:r>
          </a:p>
          <a:p>
            <a:pPr>
              <a:defRPr sz="1100">
                <a:solidFill>
                  <a:srgbClr val="A0B4D7"/>
                </a:solidFill>
                <a:latin typeface="Segoe UI"/>
              </a:defRPr>
            </a:pPr>
            <a:r>
              <a:t>Tamper-Evident Hash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4480560"/>
            <a:ext cx="1993392" cy="109728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4572000"/>
            <a:ext cx="1810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Segoe UI"/>
              </a:defRPr>
            </a:pPr>
            <a:r>
              <a:t>5. User Control</a:t>
            </a:r>
          </a:p>
          <a:p>
            <a:pPr>
              <a:defRPr sz="1100">
                <a:solidFill>
                  <a:srgbClr val="A0B4D7"/>
                </a:solidFill>
                <a:latin typeface="Segoe UI"/>
              </a:defRPr>
            </a:pPr>
            <a:r>
              <a:t>Selective Consent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52160"/>
            <a:ext cx="10728655" cy="411480"/>
          </a:xfrm>
          <a:prstGeom prst="roundRect">
            <a:avLst/>
          </a:prstGeom>
          <a:solidFill>
            <a:srgbClr val="0F1932"/>
          </a:solidFill>
          <a:ln>
            <a:solidFill>
              <a:srgbClr val="2D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100">
                <a:solidFill>
                  <a:srgbClr val="A0B4D7"/>
                </a:solidFill>
                <a:latin typeface="Segoe UI"/>
              </a:defRPr>
            </a:pPr>
            <a:r>
              <a:t>Status: Concept / Prototype-Development Stage  |  Domain: Blockchain &amp; Real-Time Payments  |  Complementary Trust Layer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3A86FF"/>
                </a:solidFill>
                <a:latin typeface="Segoe UI"/>
              </a:defRPr>
            </a:pPr>
            <a:r>
              <a:t>CHALLENGE &amp; INDUSTRY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Digital Payments Are Growing. Financial Access Still Has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5643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3090672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ISSUE 01: FRAGMENTED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90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Digital payment records exist across fragmented apps, wallets, and banks without a single verifiable financial profile.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5643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53712" y="1645920"/>
            <a:ext cx="3090672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ISSUE 02: DOCUMENTATION 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103120"/>
            <a:ext cx="3090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Small merchants and gig workers lack audited statements and traditional paperwork needed for formal financial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3023" y="1645920"/>
            <a:ext cx="3090672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ISSUE 03: VERIFICATION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2103120"/>
            <a:ext cx="3090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Institutions require trusted verification, while users need granular control to prevent raw data exposure.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A86FF"/>
                </a:solidFill>
                <a:latin typeface="Segoe UI"/>
              </a:defRPr>
            </a:pPr>
            <a:r>
              <a:t>CURRENT FRICTION JOURNEY: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114800"/>
            <a:ext cx="2194560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Digital Payment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2062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A86FF"/>
                </a:solidFill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114800"/>
            <a:ext cx="2194560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Fragmented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2062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A86FF"/>
                </a:solidFill>
              </a:defRPr>
            </a:pPr>
            <a: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114800"/>
            <a:ext cx="2194560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Documentation Friction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062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A86FF"/>
                </a:solidFill>
              </a:defRPr>
            </a:pPr>
            <a: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4114800"/>
            <a:ext cx="2194560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Verification 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100" b="1">
                <a:solidFill>
                  <a:srgbClr val="3A86FF"/>
                </a:solidFill>
                <a:latin typeface="Segoe UI"/>
              </a:defRPr>
            </a:pPr>
            <a:r>
              <a:t>CORE PROBLEM STATEMENT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"How can verified payment activity become a trusted financial credential without exposing sensitive financial data?"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THE PROPOSED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Meet PayBridge: Privacy-Preserving Trust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731520"/>
          </a:xfrm>
          <a:prstGeom prst="roundRect">
            <a:avLst/>
          </a:prstGeom>
          <a:solidFill>
            <a:srgbClr val="0F1E41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CORE PRINCIPLE: "We are not replacing payment infrastructure. We are adding a trusted, verifiable layer around it."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353312" cy="68580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09728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01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Real-Time Payments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9424" y="2286000"/>
            <a:ext cx="1353312" cy="68580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09728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02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Transaction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67328" y="2286000"/>
            <a:ext cx="1353312" cy="68580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09728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03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AI Financial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85231" y="2286000"/>
            <a:ext cx="1353312" cy="68580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09728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04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Verifiable Credential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03136" y="2286000"/>
            <a:ext cx="1353312" cy="68580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09728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05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Blockchain Proof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286000"/>
            <a:ext cx="1353312" cy="68580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09728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06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User Consent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38944" y="2286000"/>
            <a:ext cx="1353312" cy="68580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09728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07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Institution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3456432" cy="155448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31821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  <a:latin typeface="Segoe UI"/>
              </a:defRPr>
            </a:pPr>
            <a:r>
              <a:t>Real-Time Payment Verification</a:t>
            </a:r>
          </a:p>
          <a:p>
            <a:pPr>
              <a:defRPr sz="1150">
                <a:solidFill>
                  <a:srgbClr val="A0B4D7"/>
                </a:solidFill>
                <a:latin typeface="Segoe UI"/>
              </a:defRPr>
            </a:pPr>
            <a:r>
              <a:t>Verifies eligible payment activity through Drunix / NPCI APIs or sandbox infrastructure provided through the challenge.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3154680"/>
            <a:ext cx="3456432" cy="155448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246120"/>
            <a:ext cx="31821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A86FF"/>
                </a:solidFill>
                <a:latin typeface="Segoe UI"/>
              </a:defRPr>
            </a:pPr>
            <a:r>
              <a:t>AI Financial Insights</a:t>
            </a:r>
          </a:p>
          <a:p>
            <a:pPr>
              <a:defRPr sz="1150">
                <a:solidFill>
                  <a:srgbClr val="A0B4D7"/>
                </a:solidFill>
                <a:latin typeface="Segoe UI"/>
              </a:defRPr>
            </a:pPr>
            <a:r>
              <a:t>Turns permitted transaction activity into clear, explainable financial indicators and cash-flow metrics.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3154680"/>
            <a:ext cx="3456432" cy="155448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3246120"/>
            <a:ext cx="31821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Verifiable Credentials</a:t>
            </a:r>
          </a:p>
          <a:p>
            <a:pPr>
              <a:defRPr sz="1150">
                <a:solidFill>
                  <a:srgbClr val="A0B4D7"/>
                </a:solidFill>
                <a:latin typeface="Segoe UI"/>
              </a:defRPr>
            </a:pPr>
            <a:r>
              <a:t>Creates tamper-evident, cryptographically verifiable financial credentials owned by the user.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5266944" cy="155448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49926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User-Controlled Consent</a:t>
            </a:r>
          </a:p>
          <a:p>
            <a:pPr>
              <a:defRPr sz="1150">
                <a:solidFill>
                  <a:srgbClr val="A0B4D7"/>
                </a:solidFill>
                <a:latin typeface="Segoe UI"/>
              </a:defRPr>
            </a:pPr>
            <a:r>
              <a:t>Empowers users to approve or reject granular data access requests from financial institutions.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846320"/>
            <a:ext cx="5266944" cy="155448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4937760"/>
            <a:ext cx="49926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  <a:latin typeface="Segoe UI"/>
              </a:defRPr>
            </a:pPr>
            <a:r>
              <a:t>Institution Verification</a:t>
            </a:r>
          </a:p>
          <a:p>
            <a:pPr>
              <a:defRPr sz="1150">
                <a:solidFill>
                  <a:srgbClr val="A0B4D7"/>
                </a:solidFill>
                <a:latin typeface="Segoe UI"/>
              </a:defRPr>
            </a:pPr>
            <a:r>
              <a:t>Allows authorized institutions to verify user-approved credentials instantly without raw PII exposure.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3A86FF"/>
                </a:solidFill>
                <a:latin typeface="Segoe UI"/>
              </a:defRPr>
            </a:pPr>
            <a:r>
              <a:t>END-TO-END WORKFLOW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From Payment to Verifiable Financial Credential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234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>
              <a:defRPr sz="950" b="1">
                <a:solidFill>
                  <a:srgbClr val="3A86FF"/>
                </a:solidFill>
                <a:latin typeface="Segoe UI"/>
              </a:defRPr>
            </a:pPr>
            <a:r>
              <a:t>1. USER / MERCHANT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Initiates digital transaction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75688" y="1463040"/>
            <a:ext cx="1234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>
              <a:defRPr sz="950" b="1">
                <a:solidFill>
                  <a:srgbClr val="3A86FF"/>
                </a:solidFill>
                <a:latin typeface="Segoe UI"/>
              </a:defRPr>
            </a:pPr>
            <a:r>
              <a:t>2. PAYMENT SANDBOX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Drunix / NPCI API sandbox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9856" y="1463040"/>
            <a:ext cx="1234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>
              <a:defRPr sz="950" b="1">
                <a:solidFill>
                  <a:srgbClr val="3A86FF"/>
                </a:solidFill>
                <a:latin typeface="Segoe UI"/>
              </a:defRPr>
            </a:pPr>
            <a:r>
              <a:t>3. VERIFICATION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Verifies eligible activity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4024" y="1463040"/>
            <a:ext cx="1234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>
              <a:defRPr sz="950" b="1">
                <a:solidFill>
                  <a:srgbClr val="3A86FF"/>
                </a:solidFill>
                <a:latin typeface="Segoe UI"/>
              </a:defRPr>
            </a:pPr>
            <a:r>
              <a:t>4. AI ANALYTICS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Computes cash-flow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8192" y="1463040"/>
            <a:ext cx="1234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>
              <a:defRPr sz="950" b="1">
                <a:solidFill>
                  <a:srgbClr val="3A86FF"/>
                </a:solidFill>
                <a:latin typeface="Segoe UI"/>
              </a:defRPr>
            </a:pPr>
            <a:r>
              <a:t>5. CREDENTIAL GEN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Generates a proposed verifiable financial credential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463040"/>
            <a:ext cx="1234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>
              <a:defRPr sz="950" b="1">
                <a:solidFill>
                  <a:srgbClr val="3A86FF"/>
                </a:solidFill>
                <a:latin typeface="Segoe UI"/>
              </a:defRPr>
            </a:pPr>
            <a:r>
              <a:t>6. BLOCKCHAIN PROOF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Anchors the credential hash on supported blockchain infrastructure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96528" y="1463040"/>
            <a:ext cx="1234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>
              <a:defRPr sz="950" b="1">
                <a:solidFill>
                  <a:srgbClr val="3A86FF"/>
                </a:solidFill>
                <a:latin typeface="Segoe UI"/>
              </a:defRPr>
            </a:pPr>
            <a:r>
              <a:t>7. USER CONSENT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Merchant approves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0696" y="1463040"/>
            <a:ext cx="1234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>
              <a:defRPr sz="950" b="1">
                <a:solidFill>
                  <a:srgbClr val="3A86FF"/>
                </a:solidFill>
                <a:latin typeface="Segoe UI"/>
              </a:defRPr>
            </a:pPr>
            <a:r>
              <a:t>8. INSTITUTION</a:t>
            </a:r>
          </a:p>
          <a:p>
            <a:pPr algn="ctr">
              <a:defRPr sz="900">
                <a:solidFill>
                  <a:srgbClr val="475569"/>
                </a:solidFill>
                <a:latin typeface="Segoe UI"/>
              </a:defRPr>
            </a:pPr>
            <a:r>
              <a:t>Verifies proof instantly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72865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A86FF"/>
                </a:solidFill>
                <a:latin typeface="Segoe UI"/>
              </a:defRPr>
            </a:pPr>
            <a:r>
              <a:t>REALISTIC EXAMPLE WALKTHROUGH: SMALL MERCHANT SCENARIO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86200"/>
            <a:ext cx="2011680" cy="384048"/>
          </a:xfrm>
          <a:prstGeom prst="roundRect">
            <a:avLst/>
          </a:prstGeom>
          <a:solidFill>
            <a:srgbClr val="EEF2FF"/>
          </a:solidFill>
          <a:ln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3A86FF"/>
                </a:solidFill>
                <a:latin typeface="Segoe UI"/>
              </a:defRPr>
            </a:pPr>
            <a:r>
              <a:t>Step 1: Activity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886200"/>
            <a:ext cx="8229600" cy="41148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A small merchant receives regular digital payments through supported payment APIs or challenge sandbox infrastructure.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61688"/>
            <a:ext cx="2011680" cy="384048"/>
          </a:xfrm>
          <a:prstGeom prst="roundRect">
            <a:avLst/>
          </a:prstGeom>
          <a:solidFill>
            <a:srgbClr val="EEF2FF"/>
          </a:solidFill>
          <a:ln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3A86FF"/>
                </a:solidFill>
                <a:latin typeface="Segoe UI"/>
              </a:defRPr>
            </a:pPr>
            <a:r>
              <a:t>Step 2: Automated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361688"/>
            <a:ext cx="8229600" cy="41148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PayBridge verifies eligible activity against fraud rules and consistency metrics without manual document uploads.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37176"/>
            <a:ext cx="2011680" cy="384048"/>
          </a:xfrm>
          <a:prstGeom prst="roundRect">
            <a:avLst/>
          </a:prstGeom>
          <a:solidFill>
            <a:srgbClr val="EEF2FF"/>
          </a:solidFill>
          <a:ln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3A86FF"/>
                </a:solidFill>
                <a:latin typeface="Segoe UI"/>
              </a:defRPr>
            </a:pPr>
            <a:r>
              <a:t>Step 3: AI Signal Computation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837176"/>
            <a:ext cx="8229600" cy="41148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AI models analyze transaction patterns, identifying recurring surplus (e.g. ₹8,200/mo estimated surplus).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12664"/>
            <a:ext cx="2011680" cy="384048"/>
          </a:xfrm>
          <a:prstGeom prst="roundRect">
            <a:avLst/>
          </a:prstGeom>
          <a:solidFill>
            <a:srgbClr val="EEF2FF"/>
          </a:solidFill>
          <a:ln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3A86FF"/>
                </a:solidFill>
                <a:latin typeface="Segoe UI"/>
              </a:defRPr>
            </a:pPr>
            <a:r>
              <a:t>Step 4: On-Chain Proof Recording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312664"/>
            <a:ext cx="8229600" cy="41148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PayBridge is designed to generate a verifiable financial credential and anchor its cryptographic proof on supported blockchain infrastructure.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788152"/>
            <a:ext cx="2011680" cy="384048"/>
          </a:xfrm>
          <a:prstGeom prst="roundRect">
            <a:avLst/>
          </a:prstGeom>
          <a:solidFill>
            <a:srgbClr val="EEF2FF"/>
          </a:solidFill>
          <a:ln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3A86FF"/>
                </a:solidFill>
                <a:latin typeface="Segoe UI"/>
              </a:defRPr>
            </a:pPr>
            <a:r>
              <a:t>Step 5: User-Controlled Sharing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788152"/>
            <a:ext cx="8229600" cy="41148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When applying for a micro-service or credit assessment, the merchant explicitly approves or rejects the institution's access request.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TRUST ARCHITECTURE &amp; TECHNICAL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Why Blockchain Instead of Just a Database?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685800"/>
          </a:xfrm>
          <a:prstGeom prst="roundRect">
            <a:avLst/>
          </a:prstGeom>
          <a:solidFill>
            <a:srgbClr val="0F1E41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350" b="1">
                <a:solidFill>
                  <a:srgbClr val="00D2FF"/>
                </a:solidFill>
                <a:latin typeface="Segoe UI"/>
              </a:defRPr>
            </a:pPr>
            <a:r>
              <a:t>FOUNDATIONAL PRINCIPLE: "Blockchain provides a tamper-evident, independently verifiable layer for credential proofs and consent events, while sensitive financial data remains off-chain."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266944" cy="310896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90118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ON-CHAIN BLOCKCHAIN LAYER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Cryptographic Proofs: </a:t>
            </a:r>
          </a:p>
          <a:p>
            <a:pPr>
              <a:defRPr sz="1050">
                <a:solidFill>
                  <a:srgbClr val="A0B4D7"/>
                </a:solidFill>
                <a:latin typeface="Segoe UI"/>
              </a:defRPr>
            </a:pPr>
            <a:r>
              <a:t>  Anchors hashes or proofs of verified credentials without storing raw PII.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Consent Events: </a:t>
            </a:r>
          </a:p>
          <a:p>
            <a:pPr>
              <a:defRPr sz="1050">
                <a:solidFill>
                  <a:srgbClr val="A0B4D7"/>
                </a:solidFill>
                <a:latin typeface="Segoe UI"/>
              </a:defRPr>
            </a:pPr>
            <a:r>
              <a:t>  Can record consent and revocation events as auditable blockchain records.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Issuer Verification: </a:t>
            </a:r>
          </a:p>
          <a:p>
            <a:pPr>
              <a:defRPr sz="1050">
                <a:solidFill>
                  <a:srgbClr val="A0B4D7"/>
                </a:solidFill>
                <a:latin typeface="Segoe UI"/>
              </a:defRPr>
            </a:pPr>
            <a:r>
              <a:t>  Supports verification of authorised credential issuers where the infrastructure provides this capability.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Tamper-Evident Audit: </a:t>
            </a:r>
          </a:p>
          <a:p>
            <a:pPr>
              <a:defRPr sz="1050">
                <a:solidFill>
                  <a:srgbClr val="A0B4D7"/>
                </a:solidFill>
                <a:latin typeface="Segoe UI"/>
              </a:defRPr>
            </a:pPr>
            <a:r>
              <a:t>  Provides a verifiable record that can help detect alteration of credential or consent proofs.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2194560"/>
            <a:ext cx="5266944" cy="310896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2331720"/>
            <a:ext cx="490118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A86FF"/>
                </a:solidFill>
                <a:latin typeface="Segoe UI"/>
              </a:defRPr>
            </a:pPr>
            <a:r>
              <a:t>OFF-CHAIN SECURE STORAGE LAYER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Personal Identifiable Info (PII): </a:t>
            </a:r>
          </a:p>
          <a:p>
            <a:pPr>
              <a:defRPr sz="1050">
                <a:solidFill>
                  <a:srgbClr val="A0B4D7"/>
                </a:solidFill>
                <a:latin typeface="Segoe UI"/>
              </a:defRPr>
            </a:pPr>
            <a:r>
              <a:t>  Keeps names, accounts, and contact details strictly off-chain.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Raw Transaction Logs: </a:t>
            </a:r>
          </a:p>
          <a:p>
            <a:pPr>
              <a:defRPr sz="1050">
                <a:solidFill>
                  <a:srgbClr val="A0B4D7"/>
                </a:solidFill>
                <a:latin typeface="Segoe UI"/>
              </a:defRPr>
            </a:pPr>
            <a:r>
              <a:t>  Detailed line-item payment activity remains in local encrypted storage.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Granular Financial Analytics: </a:t>
            </a:r>
          </a:p>
          <a:p>
            <a:pPr>
              <a:defRPr sz="1050">
                <a:solidFill>
                  <a:srgbClr val="A0B4D7"/>
                </a:solidFill>
                <a:latin typeface="Segoe UI"/>
              </a:defRPr>
            </a:pPr>
            <a:r>
              <a:t>  Raw transaction analytics model outputs are stored off-chain.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Privacy &amp; Compliance Controls: </a:t>
            </a:r>
          </a:p>
          <a:p>
            <a:pPr>
              <a:defRPr sz="1050">
                <a:solidFill>
                  <a:srgbClr val="A0B4D7"/>
                </a:solidFill>
                <a:latin typeface="Segoe UI"/>
              </a:defRPr>
            </a:pPr>
            <a:r>
              <a:t>  Designed to support applicable data-protection and privacy requirements through off-chain storage and consent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10728655" cy="105156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2D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TECHNICAL JUSTIFICATION FOR JURY:</a:t>
            </a:r>
          </a:p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Traditional databases can provide efficient centralized storage, but cross-organization verification may still depend on trusted intermediaries and private API gateways. PayBridge separates sensitive data storage from independently verifiable proof and consent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3A86FF"/>
                </a:solidFill>
                <a:latin typeface="Segoe UI"/>
              </a:defRPr>
            </a:pPr>
            <a:r>
              <a:t>AI &amp; CASH-FLOW ANALYTICS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From Transactions → Understanding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36576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sz="1100" b="1">
                <a:solidFill>
                  <a:srgbClr val="B45309"/>
                </a:solidFill>
                <a:latin typeface="Segoe UI"/>
              </a:defRPr>
            </a:pPr>
            <a:r>
              <a:t>* DEMONSTRATION VALUES — REPRESENTATIVE PROTOTYPE ANALYTICS MOCKUP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12064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PAYBRIDGE AI FINANCIAL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228600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/>
          <a:lstStyle/>
          <a:p>
            <a:pPr algn="ct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MONTHLY DIGITAL INFLOW</a:t>
            </a:r>
          </a:p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₹42,000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Illustrative Consistency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560320"/>
            <a:ext cx="228600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/>
          <a:lstStyle/>
          <a:p>
            <a:pPr algn="ct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RECURRING BUSINESS EXPENSES</a:t>
            </a:r>
          </a:p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₹18,500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Supplier &amp; Utility 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14800"/>
            <a:ext cx="228600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/>
          <a:lstStyle/>
          <a:p>
            <a:pPr algn="ct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ESTIMATED MONTHLY SURPLUS</a:t>
            </a:r>
          </a:p>
          <a:p>
            <a:pPr>
              <a:defRPr sz="2000" b="1">
                <a:solidFill>
                  <a:srgbClr val="3A86FF"/>
                </a:solidFill>
                <a:latin typeface="Segoe UI"/>
              </a:defRPr>
            </a:pPr>
            <a:r>
              <a:t>₹8,200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Surplus Margin: ~19.5%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4114800"/>
            <a:ext cx="228600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/>
          <a:lstStyle/>
          <a:p>
            <a:pPr algn="ctr">
              <a:defRPr sz="850" b="1">
                <a:solidFill>
                  <a:srgbClr val="475569"/>
                </a:solidFill>
                <a:latin typeface="Segoe UI"/>
              </a:defRPr>
            </a:pPr>
            <a:r>
              <a:t>ILLUSTRATIVE CASH-FLOW SIGNAL</a:t>
            </a:r>
          </a:p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Prototype Example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Illustrative 6-Month Pattern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874519"/>
            <a:ext cx="542513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0593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A86FF"/>
                </a:solidFill>
                <a:latin typeface="Segoe UI"/>
              </a:defRPr>
            </a:pPr>
            <a:r>
              <a:t>CORE AI &amp; ANALYTICAL CAPABILITIES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Transaction Pattern Recognition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  Analyzes frequency, velocity, and seasonal peaks in digital payment activity.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Recurring Cash-Flow Identification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  Automatically categorizes recurring inflows and operational expenses (rent, inventory).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Financial Activity Summarization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  Converts line-item API payments into clear, standardized financial indicators.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Explainable AI Insights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  Generates deterministic, transparent summary metrics without black-box lending bias.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943600"/>
            <a:ext cx="10728655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3A86FF"/>
                </a:solidFill>
                <a:latin typeface="Segoe UI"/>
              </a:defRPr>
            </a:pPr>
            <a:r>
              <a:t>IMPORTANT PRINCIPLE: "AI provides transparent insights — not autonomous lending decisions."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3A86FF"/>
                </a:solidFill>
                <a:latin typeface="Segoe UI"/>
              </a:defRPr>
            </a:pPr>
            <a:r>
              <a:t>PRIVACY-FIRST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Your Data. Your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93776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PAYBRIDGE CONSENT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REQUESTING INSTITUTION:</a:t>
            </a:r>
          </a:p>
          <a:p>
            <a:pPr>
              <a:defRPr sz="1500" b="1">
                <a:solidFill>
                  <a:srgbClr val="3A86FF"/>
                </a:solidFill>
              </a:defRPr>
            </a:pPr>
            <a:r>
              <a:t>ABC Financial Institution</a:t>
            </a:r>
          </a:p>
          <a:p>
            <a:br/>
            <a:pPr>
              <a:defRPr sz="1000" b="1">
                <a:solidFill>
                  <a:srgbClr val="475569"/>
                </a:solidFill>
              </a:defRPr>
            </a:pPr>
            <a:r>
              <a:t>REQUESTED SCOPE &amp; CREDENTIALS: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✓ Monthly Income Consistency Proof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✓ Verifiable Transaction Surplus Summary</a:t>
            </a:r>
          </a:p>
          <a:p>
            <a:pPr>
              <a:defRPr sz="1150" b="1">
                <a:solidFill>
                  <a:srgbClr val="DC2626"/>
                </a:solidFill>
              </a:defRPr>
            </a:pPr>
            <a:r>
              <a:t>✗ Raw Itemized Transaction History (BLOCKED)</a:t>
            </a:r>
          </a:p>
          <a:p>
            <a:br/>
            <a:pPr>
              <a:defRPr sz="1000" b="1">
                <a:solidFill>
                  <a:srgbClr val="475569"/>
                </a:solidFill>
              </a:defRPr>
            </a:pPr>
            <a:r>
              <a:t>PURPOSE OF REQUEST: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Financial service eligibility assessment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486400"/>
            <a:ext cx="2103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APPROVE CONSENT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486400"/>
            <a:ext cx="210312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REJECT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463040"/>
            <a:ext cx="560801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645920"/>
            <a:ext cx="52422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A86FF"/>
                </a:solidFill>
                <a:latin typeface="Segoe UI"/>
              </a:defRPr>
            </a:pPr>
            <a:r>
              <a:t>USER-CONTROLLED CONSENT LIFECYCLE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1. Institution Request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  Authorized financial entity issues a credential verification request specifying required scope.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2. User Notification &amp; Review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  The user receives a push notification showing exactly what credentials are requested and why.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3. Explicit Approval / Rejection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  The user evaluates the request and grants explicit consent. Raw statements are never shared.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4. Proposed On-Chain Consent Log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  The proposed design can record consent grant/revoke events as tamper-evident blockchain records.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5. Privacy-Preserving Credential Release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  The institution receives a verifiable proof or selected credential attributes without automatically receiving underlying sensitive data, subject to the supported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MODULAR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658368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2377440" cy="475488"/>
          </a:xfrm>
          <a:prstGeom prst="roundRect">
            <a:avLst/>
          </a:prstGeom>
          <a:solidFill>
            <a:srgbClr val="0F1E41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FRONTEND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463040"/>
            <a:ext cx="7955279" cy="47548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React.js  |  JavaScript  |  HTML5 &amp; CSS3  |  Web3 Wallet Hooks  |  Responsive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21408"/>
            <a:ext cx="10728655" cy="658368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212848"/>
            <a:ext cx="2377440" cy="475488"/>
          </a:xfrm>
          <a:prstGeom prst="roundRect">
            <a:avLst/>
          </a:prstGeom>
          <a:solidFill>
            <a:srgbClr val="0F1E41"/>
          </a:solidFill>
          <a:ln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A86FF"/>
                </a:solidFill>
                <a:latin typeface="Segoe UI"/>
              </a:defRPr>
            </a:pPr>
            <a:r>
              <a:t>BACKEND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7955279" cy="47548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Node.js  |  Express.js  |  RESTful APIs  |  JSON-LD Credential Generators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5"/>
            <a:ext cx="10728655" cy="658368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2377440" cy="475488"/>
          </a:xfrm>
          <a:prstGeom prst="roundRect">
            <a:avLst/>
          </a:prstGeom>
          <a:solidFill>
            <a:srgbClr val="0F1E41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BLOCKCHAIN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962656"/>
            <a:ext cx="7955279" cy="47548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Drunix Infrastructure  |  Smart Contracts  |  Web3.js  |  SHA-256 Hashing  |  Verifiable Credentials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21024"/>
            <a:ext cx="10728655" cy="658368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712463"/>
            <a:ext cx="2377440" cy="475488"/>
          </a:xfrm>
          <a:prstGeom prst="roundRect">
            <a:avLst/>
          </a:prstGeom>
          <a:solidFill>
            <a:srgbClr val="0F1E4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AI &amp;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712463"/>
            <a:ext cx="7955279" cy="47548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Python  |  Pandas  |  Scikit-learn  |  Transaction Cash-Flow Analytics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70831"/>
            <a:ext cx="10728655" cy="658368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462271"/>
            <a:ext cx="2377440" cy="475488"/>
          </a:xfrm>
          <a:prstGeom prst="roundRect">
            <a:avLst/>
          </a:prstGeom>
          <a:solidFill>
            <a:srgbClr val="0F1E4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PAYMENT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462271"/>
            <a:ext cx="7955279" cy="47548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Drunix / NPCI APIs or sandbox infrastructure provided through the challenge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0728655" cy="658368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5212079"/>
            <a:ext cx="2377440" cy="475488"/>
          </a:xfrm>
          <a:prstGeom prst="roundRect">
            <a:avLst/>
          </a:prstGeom>
          <a:solidFill>
            <a:srgbClr val="0F1E41"/>
          </a:solidFill>
          <a:ln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A86FF"/>
                </a:solidFill>
                <a:latin typeface="Segoe UI"/>
              </a:defRPr>
            </a:pPr>
            <a:r>
              <a:t>DATABASE &amp;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212079"/>
            <a:ext cx="7955279" cy="47548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PostgreSQL / MongoDB  |  Encrypted Local Off-Chain 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70448"/>
            <a:ext cx="10728655" cy="658368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961888"/>
            <a:ext cx="2377440" cy="475488"/>
          </a:xfrm>
          <a:prstGeom prst="roundRect">
            <a:avLst/>
          </a:prstGeom>
          <a:solidFill>
            <a:srgbClr val="0F1E41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SECURITY &amp;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961888"/>
            <a:ext cx="7955279" cy="47548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Authentication  |  AES-256 Encryption  |  Role-Based Access Control (RBAC)  |  Consent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3A86FF"/>
                </a:solidFill>
                <a:latin typeface="Segoe UI"/>
              </a:defRPr>
            </a:pPr>
            <a:r>
              <a:t>TARGET PERSONAS &amp; EXPANSION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Designed for Financial Inclusion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42032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67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CB4"/>
                </a:solidFill>
                <a:latin typeface="Segoe UI"/>
              </a:defRPr>
            </a:pPr>
            <a:r>
              <a:t>TARGET 01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Small Merchants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Build a portable representation of verified shop revenue without expensive audited accounting statements.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42032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600200"/>
            <a:ext cx="2267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A86FF"/>
                </a:solidFill>
                <a:latin typeface="Segoe UI"/>
              </a:defRPr>
            </a:pPr>
            <a:r>
              <a:t>TARGET 02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Gig Workers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Aggregate fragmented digital earnings across delivery and freelance platforms into a unified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42032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600200"/>
            <a:ext cx="2267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TARGET 03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Self-Employed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Transform daily digital transaction activity into structured, verifiable financial credentials.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542032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600200"/>
            <a:ext cx="22677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TARGET 04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Digitally Underserved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Reduce documentation friction when applying for formal financial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7286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86FF"/>
                </a:solidFill>
                <a:latin typeface="Segoe UI"/>
              </a:defRPr>
            </a:pPr>
            <a:r>
              <a:t>STRATEGIC EXPANSION HORIZON (CURRENT PROTOTYPE VS FUTURE SCOPE)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54880"/>
            <a:ext cx="2377440" cy="1371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A86FF"/>
                </a:solidFill>
                <a:latin typeface="Segoe UI"/>
              </a:defRPr>
            </a:pPr>
            <a:r>
              <a:t>REAL-TIME PAYMENTS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Current Hackathon Prototype</a:t>
            </a:r>
            <a:br/>
            <a:r>
              <a:t>Sandbox transaction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4754880"/>
            <a:ext cx="2377440" cy="1371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3A86FF"/>
                </a:solidFill>
                <a:latin typeface="Segoe UI"/>
              </a:defRPr>
            </a:pPr>
            <a:r>
              <a:t>FINANCIAL CREDENTIALS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Current Hackathon Prototype</a:t>
            </a:r>
            <a:br/>
            <a:r>
              <a:t>Verifiable proof generation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754880"/>
            <a:ext cx="237744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CROSS-BORDER USE CASES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[FUTURE SCOPE]</a:t>
            </a:r>
            <a:br/>
            <a:r>
              <a:t>Remittance verification &amp; cross-border credentials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4754880"/>
            <a:ext cx="237744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TOKENIZATION USE CASES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[FUTURE SCOPE]</a:t>
            </a:r>
            <a:br/>
            <a:r>
              <a:t>Real asset tokenization &amp; cash-flow collateralization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EXECUTION ROADMAP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From Prototype to Financial Trust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56432" cy="274320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3182112" cy="320040"/>
          </a:xfrm>
          <a:prstGeom prst="roundRect">
            <a:avLst/>
          </a:prstGeom>
          <a:solidFill>
            <a:srgbClr val="0F1E41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00" b="1">
                <a:solidFill>
                  <a:srgbClr val="00D2FF"/>
                </a:solidFill>
                <a:latin typeface="Segoe UI"/>
              </a:defRPr>
            </a:pPr>
            <a:r>
              <a:t>PLANNED PROTOTYPE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821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PHASE 1 — HACKATHON PROTOTYPE</a:t>
            </a:r>
          </a:p>
          <a:p>
            <a:br/>
            <a:pPr>
              <a:defRPr sz="1050">
                <a:solidFill>
                  <a:srgbClr val="A0B4D7"/>
                </a:solidFill>
                <a:latin typeface="Segoe UI"/>
              </a:defRPr>
            </a:pPr>
            <a:r>
              <a:t>• Payment API sandbox integration</a:t>
            </a:r>
            <a:br/>
            <a:r>
              <a:t>• Verifiable Credentials generation</a:t>
            </a:r>
            <a:br/>
            <a:r>
              <a:t>• AI cash-flow pattern analytics engine</a:t>
            </a:r>
            <a:br/>
            <a:r>
              <a:t>• Mobile/Web User Consent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56432" cy="274320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07992" y="1600200"/>
            <a:ext cx="3182112" cy="320040"/>
          </a:xfrm>
          <a:prstGeom prst="roundRect">
            <a:avLst/>
          </a:prstGeom>
          <a:solidFill>
            <a:srgbClr val="0F1E41"/>
          </a:solidFill>
          <a:ln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00" b="1">
                <a:solidFill>
                  <a:srgbClr val="3A86FF"/>
                </a:solidFill>
                <a:latin typeface="Segoe UI"/>
              </a:defRPr>
            </a:pPr>
            <a:r>
              <a:t>FUTURE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11680"/>
            <a:ext cx="31821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PHASE 2 — INSTITUTION INTEGRATION</a:t>
            </a:r>
          </a:p>
          <a:p>
            <a:br/>
            <a:pPr>
              <a:defRPr sz="1050">
                <a:solidFill>
                  <a:srgbClr val="A0B4D7"/>
                </a:solidFill>
                <a:latin typeface="Segoe UI"/>
              </a:defRPr>
            </a:pPr>
            <a:r>
              <a:t>• Institution verification SDK &amp; API onboarding</a:t>
            </a:r>
            <a:br/>
            <a:r>
              <a:t>• Multi-bank sandbox validation testing</a:t>
            </a:r>
            <a:br/>
            <a:r>
              <a:t>• Expanded financial service provider workflows</a:t>
            </a:r>
            <a:br/>
            <a:r>
              <a:t>• Governance &amp; key management protocols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274320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182112" cy="320040"/>
          </a:xfrm>
          <a:prstGeom prst="roundRect">
            <a:avLst/>
          </a:prstGeom>
          <a:solidFill>
            <a:srgbClr val="0F1E4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011680"/>
            <a:ext cx="31821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PHASE 3 — ECOSYSTEM EXPANSION</a:t>
            </a:r>
          </a:p>
          <a:p>
            <a:br/>
            <a:pPr>
              <a:defRPr sz="1050">
                <a:solidFill>
                  <a:srgbClr val="A0B4D7"/>
                </a:solidFill>
                <a:latin typeface="Segoe UI"/>
              </a:defRPr>
            </a:pPr>
            <a:r>
              <a:t>• Additional payment provider integrations</a:t>
            </a:r>
            <a:br/>
            <a:r>
              <a:t>• Cross-border credential verification rails</a:t>
            </a:r>
            <a:br/>
            <a:r>
              <a:t>• Real-world asset tokenization layers</a:t>
            </a:r>
            <a:br/>
            <a:r>
              <a:t>• Enterprise institutional adoption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728655" cy="1645920"/>
          </a:xfrm>
          <a:prstGeom prst="roundRect">
            <a:avLst/>
          </a:prstGeom>
          <a:solidFill>
            <a:srgbClr val="1721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"PayBridge doesn't replace India's payment infrastructure. It adds a trusted, verifiable and user-controlled layer around it."</a:t>
            </a:r>
          </a:p>
          <a:p>
            <a:br/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BUILD THE PAYMENT. VERIFY THE ACTIVITY. GIVE CONTROL BACK TO THE USER.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A0B4D7"/>
                </a:solidFill>
                <a:latin typeface="Segoe UI"/>
              </a:defRPr>
            </a:pPr>
            <a:r>
              <a:t>THANK YOU  |  PAYBRIDGE  |  DRUNIX HACKATHON × CITI  |  CHALLENGE CODE: CHL-7007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